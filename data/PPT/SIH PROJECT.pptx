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5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269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4754880" cy="47548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457200"/>
            <a:ext cx="3291840" cy="3291840"/>
          </a:xfrm>
          <a:prstGeom prst="ellipse">
            <a:avLst/>
          </a:prstGeom>
          <a:solidFill>
            <a:srgbClr val="3FA9A8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274320"/>
            <a:ext cx="1828800" cy="1828800"/>
          </a:xfrm>
          <a:prstGeom prst="ellipse">
            <a:avLst/>
          </a:prstGeom>
          <a:solidFill>
            <a:srgbClr val="F4A53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4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AI-Based Automated Urban Parcel Mapping and Cadastral Feature Extraction System using Drone </a:t>
            </a:r>
            <a:r>
              <a:rPr lang="en-IN" sz="40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lmagery</a:t>
            </a:r>
            <a:endParaRPr lang="en-US" sz="4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GeoAI pipeline that converts raw drone imagery into verified, GIS-ready cadastral parcel maps — turning a months-long manual survey into a mostly-automated workflow.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26012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2900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2900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Rural Development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Land Resources (DoLR)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684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3F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006840" y="5394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Drones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Solution Pitch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Cadastral mapping today is slow, manual, and error-prone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762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digitization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boundaries traced by hand from drone imagery — slow and inconsistent.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762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irregular geometry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structures, encroachments &amp; narrow lanes confuse manual survey.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76200" dist="25400" dir="5400000" algn="bl" rotWithShape="0">
              <a:srgbClr val="1B2B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land records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3063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Field-based Ground Truthing extends cadastral survey timelines by months.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E2A3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ORI, DSM/DTM, and drone datasets now widely available, AI/GeoAI can automate the bulk of feature extraction — leaving humans to verify only the edge cases.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 |  AI-Based Automated Urban Parcel Mapping &amp; Cadastral Feature Extraction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human-in-the-loop GeoAI pipeline for parcel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imagery + elevation data flow through deep learning models to automatically produce validated, GIS-ready cadastral parcels.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16394D"/>
          </a:solidFill>
          <a:ln w="9525">
            <a:solidFill>
              <a:srgbClr val="3FA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Fuse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 + DSM/DTM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&amp; tiled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40280" y="31089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246888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1C7293"/>
          </a:solidFill>
          <a:ln w="9525">
            <a:solidFill>
              <a:srgbClr val="3FA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752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87752" y="3383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Buildings, parcels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roads extracted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87952" y="31089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43984" y="246888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16394D"/>
          </a:solidFill>
          <a:ln w="9525">
            <a:solidFill>
              <a:srgbClr val="3FA9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35424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5424" y="3383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masks →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polygons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35624" y="31089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91656" y="246888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16394D"/>
          </a:solidFill>
          <a:ln w="9525">
            <a:solidFill>
              <a:srgbClr val="3FA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1384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83096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83096" y="3383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fix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flags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83296" y="31089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39328" y="246888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1C7293"/>
          </a:solidFill>
          <a:ln w="9525">
            <a:solidFill>
              <a:srgbClr val="3FA9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30768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30768" y="3383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Web-GIS human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30968" y="310896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87000" y="2468880"/>
            <a:ext cx="1691640" cy="1554480"/>
          </a:xfrm>
          <a:prstGeom prst="roundRect">
            <a:avLst>
              <a:gd name="adj" fmla="val 5294"/>
            </a:avLst>
          </a:prstGeom>
          <a:solidFill>
            <a:srgbClr val="16394D"/>
          </a:solidFill>
          <a:ln w="9525">
            <a:solidFill>
              <a:srgbClr val="3FA9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96728" y="2560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378440" y="29260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378440" y="33832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GIS-ready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cadastral layers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343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fully autonomous by design — every low-confidence or conflicting parcel is routed to a human reviewer before final approval.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 |  AI-Based Automated Urban Parcel Mapping &amp; Cadastral Feature Extraction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STAGE 1 &amp;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fusion and AI-based feature extraction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0E2A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FUSED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249424"/>
            <a:ext cx="91440" cy="91440"/>
          </a:xfrm>
          <a:prstGeom prst="ellipse">
            <a:avLst/>
          </a:prstGeom>
          <a:solidFill>
            <a:srgbClr val="3FA9A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21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drone imagery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871216"/>
            <a:ext cx="91440" cy="91440"/>
          </a:xfrm>
          <a:prstGeom prst="ellipse">
            <a:avLst/>
          </a:prstGeom>
          <a:solidFill>
            <a:srgbClr val="3FA9A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Orthorectified Imagery (ORI)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493008"/>
            <a:ext cx="91440" cy="91440"/>
          </a:xfrm>
          <a:prstGeom prst="ellipse">
            <a:avLst/>
          </a:prstGeom>
          <a:solidFill>
            <a:srgbClr val="3FA9A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649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(surface) + DTM (terrain)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14800"/>
            <a:ext cx="91440" cy="91440"/>
          </a:xfrm>
          <a:prstGeom prst="ellipse">
            <a:avLst/>
          </a:prstGeom>
          <a:solidFill>
            <a:srgbClr val="3FA9A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867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nDSM = DSM − DTM (object height)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736592"/>
            <a:ext cx="91440" cy="91440"/>
          </a:xfrm>
          <a:prstGeom prst="ellipse">
            <a:avLst/>
          </a:prstGeom>
          <a:solidFill>
            <a:srgbClr val="3FA9A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0857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GIS parcel layers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358384"/>
            <a:ext cx="91440" cy="91440"/>
          </a:xfrm>
          <a:prstGeom prst="ellipse">
            <a:avLst/>
          </a:prstGeom>
          <a:solidFill>
            <a:srgbClr val="3FA9A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2303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GNSS/CORS survey points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1554480"/>
            <a:ext cx="7452360" cy="1399032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60520" y="1554480"/>
            <a:ext cx="73152" cy="1399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16642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Parcel Segmentation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34840" y="199339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/ Mask R-CNN fine-tuned on Indian urban imagery, using RGB + nDSM as multi-channel input to separate real structures from shadows/clutter.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260604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pixel-level building &amp; parcel masks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3154680"/>
            <a:ext cx="7452360" cy="1399032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60520" y="3154680"/>
            <a:ext cx="73152" cy="1399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2644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Corridor Detection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359359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object detection / segmentation head tuned for linear geometry — handled separately from parcels for higher precision.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34840" y="420624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road &amp; access-corridor vectors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60520" y="4754880"/>
            <a:ext cx="7452360" cy="1399032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60520" y="4754880"/>
            <a:ext cx="73152" cy="1399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48646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Classification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34840" y="519379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features — footprint size, density, proximity to roads — classify each parcel as residential, commercial, mixed-use, or vacant.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34840" y="580644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land-use tags per parcel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 |  AI-Based Automated Urban Parcel Mapping &amp; Cadastral Feature Extraction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STAGE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 masks to validated cadastral polygons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Extraction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boundaries of every AI-detected mask into raw polygon outlines.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3FA9A8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1188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Simplification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788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Douglas-Peucker style simplification removes jagged pixel noise.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Snapping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788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boundaries snapped together; small gaps auto-closed.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69164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3FA9A8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2286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2600" y="2788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/ inconsistent parcels flagged — direct encroachment signal.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279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topology validation is what makes the output usable in real GIS systems — no self-intersecting polygons, no slivers, no unexplained gaps between adjoining parcels. The same module auto-flags encroachments and boundary conflicts that would otherwise surface only during manual field verification.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 |  AI-Based Automated Urban Parcel Mapping &amp; Cadastral Feature Extraction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STAGE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Web-GIS dashboard with human-in-the-loop review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943600" cy="4206240"/>
          </a:xfrm>
          <a:prstGeom prst="roundRect">
            <a:avLst>
              <a:gd name="adj" fmla="val 1739"/>
            </a:avLst>
          </a:prstGeom>
          <a:solidFill>
            <a:srgbClr val="16394D"/>
          </a:solidFill>
          <a:ln w="12700">
            <a:solidFill>
              <a:srgbClr val="3FA9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943600" cy="411480"/>
          </a:xfrm>
          <a:prstGeom prst="rect">
            <a:avLst/>
          </a:prstGeom>
          <a:solidFill>
            <a:srgbClr val="0B213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Cadastral Review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5394960" cy="3383280"/>
          </a:xfrm>
          <a:prstGeom prst="rect">
            <a:avLst/>
          </a:prstGeom>
          <a:solidFill>
            <a:srgbClr val="0E2A3D"/>
          </a:solidFill>
          <a:ln w="12700">
            <a:solidFill>
              <a:srgbClr val="2A4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0" cy="338328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2194560"/>
            <a:ext cx="0" cy="338328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15184" y="2194560"/>
            <a:ext cx="0" cy="338328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194560"/>
            <a:ext cx="0" cy="338328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2194560"/>
            <a:ext cx="0" cy="338328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194560"/>
            <a:ext cx="0" cy="338328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2194560"/>
            <a:ext cx="0" cy="338328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194560"/>
            <a:ext cx="5394960" cy="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871216"/>
            <a:ext cx="5394960" cy="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47872"/>
            <a:ext cx="5394960" cy="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224528"/>
            <a:ext cx="5394960" cy="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01184"/>
            <a:ext cx="5394960" cy="0"/>
          </a:xfrm>
          <a:prstGeom prst="line">
            <a:avLst/>
          </a:prstGeom>
          <a:noFill/>
          <a:ln w="9525">
            <a:solidFill>
              <a:srgbClr val="1E3B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8720" y="2468880"/>
            <a:ext cx="1188720" cy="914400"/>
          </a:xfrm>
          <a:prstGeom prst="rect">
            <a:avLst/>
          </a:prstGeom>
          <a:solidFill>
            <a:srgbClr val="3FA9A8">
              <a:alpha val="45000"/>
            </a:srgbClr>
          </a:solidFill>
          <a:ln w="19050">
            <a:solidFill>
              <a:srgbClr val="3FA9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468880"/>
            <a:ext cx="1188720" cy="914400"/>
          </a:xfrm>
          <a:prstGeom prst="rect">
            <a:avLst/>
          </a:prstGeom>
          <a:solidFill>
            <a:srgbClr val="3FA9A8">
              <a:alpha val="45000"/>
            </a:srgbClr>
          </a:solidFill>
          <a:ln w="19050">
            <a:solidFill>
              <a:srgbClr val="3FA9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2468880"/>
            <a:ext cx="1188720" cy="914400"/>
          </a:xfrm>
          <a:prstGeom prst="rect">
            <a:avLst/>
          </a:prstGeom>
          <a:solidFill>
            <a:srgbClr val="F4A536">
              <a:alpha val="45000"/>
            </a:srgbClr>
          </a:solidFill>
          <a:ln w="19050">
            <a:solidFill>
              <a:srgbClr val="F4A53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88720" y="3520440"/>
            <a:ext cx="1188720" cy="822960"/>
          </a:xfrm>
          <a:prstGeom prst="rect">
            <a:avLst/>
          </a:prstGeom>
          <a:solidFill>
            <a:srgbClr val="3FA9A8">
              <a:alpha val="45000"/>
            </a:srgbClr>
          </a:solidFill>
          <a:ln w="19050">
            <a:solidFill>
              <a:srgbClr val="3FA9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3520440"/>
            <a:ext cx="1188720" cy="822960"/>
          </a:xfrm>
          <a:prstGeom prst="rect">
            <a:avLst/>
          </a:prstGeom>
          <a:solidFill>
            <a:srgbClr val="3FA9A8">
              <a:alpha val="45000"/>
            </a:srgbClr>
          </a:solidFill>
          <a:ln w="19050">
            <a:solidFill>
              <a:srgbClr val="3FA9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3520440"/>
            <a:ext cx="1188720" cy="822960"/>
          </a:xfrm>
          <a:prstGeom prst="rect">
            <a:avLst/>
          </a:prstGeom>
          <a:solidFill>
            <a:srgbClr val="1C7293">
              <a:alpha val="45000"/>
            </a:srgbClr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035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A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Conflict flagged — needs review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66560" y="1737360"/>
            <a:ext cx="365760" cy="365760"/>
          </a:xfrm>
          <a:prstGeom prst="ellipse">
            <a:avLst/>
          </a:prstGeom>
          <a:solidFill>
            <a:srgbClr val="F4A536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6948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26948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parcel/building carries a model confidence score.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2743200"/>
            <a:ext cx="365760" cy="365760"/>
          </a:xfrm>
          <a:prstGeom prst="ellipse">
            <a:avLst/>
          </a:prstGeom>
          <a:solidFill>
            <a:srgbClr val="F4A53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69480" y="2697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269480" y="3035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low-confidence or conflicting parcels reach a reviewer.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3749040"/>
            <a:ext cx="365760" cy="365760"/>
          </a:xfrm>
          <a:prstGeom prst="ellipse">
            <a:avLst/>
          </a:prstGeom>
          <a:solidFill>
            <a:srgbClr val="F4A536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69480" y="3703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 / redraw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269480" y="40416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 edit boundaries directly on the map.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4754880"/>
            <a:ext cx="365760" cy="365760"/>
          </a:xfrm>
          <a:prstGeom prst="ellipse">
            <a:avLst/>
          </a:prstGeom>
          <a:solidFill>
            <a:srgbClr val="F4A536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69480" y="47091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&amp; GNSS overlay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269480" y="5047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and CORS survey points shown as reference.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66560" y="5623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Leaflet/Mapbox + PostGIS — practical for real government deployment, not just a research demo.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 |  AI-Based Automated Urban Parcel Mapping &amp; Cadastral Feature Extraction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platform delivers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Parcel Extraction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2219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segmentation + detection pipeline for parcels, buildings and roads.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28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GIS-Ready Cadastral Outputs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2219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shapefile / GeoJSON exports directly usable in existing GIS systems.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200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Visualization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5935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for review, editing and approval by field officers.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  <a:effectLst>
            <a:outerShdw blurRad="63500" dist="25400" dir="5400000" algn="bl" rotWithShape="0">
              <a:srgbClr val="1B2B33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200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Topology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59359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geometry checks and conflict/encroachment flagging.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E2A3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Time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4400" y="5193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not months, per 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Accuracy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480560" y="5193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AI + human-verified boundaries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Manual Effort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046720" y="5193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focus only on flagged parcels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 |  AI-Based Automated Urban Parcel Mapping &amp; Cadastral Feature Extraction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proven, deployable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Modeling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06240" y="1847088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U-Net, Mask R-CNN, CNN-based object detection; PyTorch / TensorFlow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16352"/>
            <a:ext cx="109728" cy="914400"/>
          </a:xfrm>
          <a:prstGeom prst="rect">
            <a:avLst/>
          </a:prstGeom>
          <a:solidFill>
            <a:srgbClr val="3FA9A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Geoprocessing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06240" y="2926080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GDAL, Rasterio, Shapely for raster-to-vector &amp; topology ops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9534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95344"/>
            <a:ext cx="10972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05072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Storage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06240" y="4005072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spatial database, REST APIs for GIS data exchange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743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74336"/>
            <a:ext cx="109728" cy="914400"/>
          </a:xfrm>
          <a:prstGeom prst="rect">
            <a:avLst/>
          </a:prstGeom>
          <a:solidFill>
            <a:srgbClr val="3FA9A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84064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Web-GIS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06240" y="5084064"/>
            <a:ext cx="7223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/ Mapbox GL for interactive map visualization &amp; editing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 |  AI-Based Automated Urban Parcel Mapping &amp; Cadastral Feature Extraction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754880" cy="475488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114800" cy="4114800"/>
          </a:xfrm>
          <a:prstGeom prst="ellipse">
            <a:avLst/>
          </a:prstGeom>
          <a:solidFill>
            <a:srgbClr val="3FA9A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months of manual survey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mostly-automated pipeline.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F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heavy lifting. Humans verify only what matters.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26012 — AI-Based Automated Urban Parcel Mapping and Cadastral Feature Extraction System using Drone Imagery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912</Words>
  <Application>Microsoft Office PowerPoint</Application>
  <PresentationFormat>Widescreen</PresentationFormat>
  <Paragraphs>167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SAMSON ZACHARIA JOSEPH</cp:lastModifiedBy>
  <cp:revision>2</cp:revision>
  <dcterms:created xsi:type="dcterms:W3CDTF">2026-08-25T12:01:28Z</dcterms:created>
  <dcterms:modified xsi:type="dcterms:W3CDTF">2026-08-25T12:47:05Z</dcterms:modified>
</cp:coreProperties>
</file>